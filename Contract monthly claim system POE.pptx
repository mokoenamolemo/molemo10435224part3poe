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1032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Contract monthly claim system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presented by: </a:t>
            </a:r>
            <a:r>
              <a:rPr lang="en-US" dirty="0" err="1"/>
              <a:t>MOlemo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6583680" cy="555216"/>
          </a:xfrm>
        </p:spPr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09" y="1825328"/>
            <a:ext cx="6583680" cy="419201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- Automated claims platform for educational institutions </a:t>
            </a:r>
          </a:p>
          <a:p>
            <a:r>
              <a:rPr lang="en-US" dirty="0"/>
              <a:t>- Streamlines lecturer payment claims and approval workflows</a:t>
            </a:r>
          </a:p>
          <a:p>
            <a:pPr marL="342900" indent="-342900">
              <a:buFontTx/>
              <a:buChar char="-"/>
            </a:pPr>
            <a:r>
              <a:rPr lang="en-US" dirty="0"/>
              <a:t>Role based access for Lecturers, coordinators, and hr.</a:t>
            </a:r>
          </a:p>
          <a:p>
            <a:pPr marL="342900" indent="-342900">
              <a:buFontTx/>
              <a:buChar char="-"/>
            </a:pPr>
            <a:r>
              <a:rPr lang="en-US" dirty="0"/>
              <a:t> Built with modern ASP.NET core MVC architecture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application implements secure authentication and validation process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pPr marL="342900" indent="-34290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977" y="382936"/>
            <a:ext cx="5723586" cy="1023077"/>
          </a:xfrm>
        </p:spPr>
        <p:txBody>
          <a:bodyPr/>
          <a:lstStyle/>
          <a:p>
            <a:r>
              <a:rPr lang="en-US" dirty="0"/>
              <a:t>Technical foundation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19E59-59B0-32D4-56C1-F0E587818A88}"/>
              </a:ext>
            </a:extLst>
          </p:cNvPr>
          <p:cNvSpPr txBox="1"/>
          <p:nvPr/>
        </p:nvSpPr>
        <p:spPr>
          <a:xfrm>
            <a:off x="668593" y="1681316"/>
            <a:ext cx="57235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rgbClr val="202C8F"/>
                </a:solidFill>
              </a:rPr>
              <a:t>Front-end: </a:t>
            </a:r>
          </a:p>
          <a:p>
            <a:r>
              <a:rPr lang="en-ZA" dirty="0">
                <a:solidFill>
                  <a:srgbClr val="202C8F"/>
                </a:solidFill>
              </a:rPr>
              <a:t>-ASP.NET Core MVC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Razor Views with Bootstrap</a:t>
            </a:r>
          </a:p>
          <a:p>
            <a:pPr marL="285750" indent="-285750">
              <a:buFontTx/>
              <a:buChar char="-"/>
            </a:pPr>
            <a:r>
              <a:rPr lang="en-ZA" dirty="0" err="1">
                <a:solidFill>
                  <a:srgbClr val="202C8F"/>
                </a:solidFill>
              </a:rPr>
              <a:t>JQuery</a:t>
            </a:r>
            <a:r>
              <a:rPr lang="en-ZA" dirty="0">
                <a:solidFill>
                  <a:srgbClr val="202C8F"/>
                </a:solidFill>
              </a:rPr>
              <a:t> for client-side validation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Responsive UI design</a:t>
            </a:r>
          </a:p>
          <a:p>
            <a:pPr marL="285750" indent="-285750">
              <a:buFontTx/>
              <a:buChar char="-"/>
            </a:pPr>
            <a:endParaRPr lang="en-ZA" dirty="0">
              <a:solidFill>
                <a:srgbClr val="202C8F"/>
              </a:solidFill>
            </a:endParaRPr>
          </a:p>
          <a:p>
            <a:r>
              <a:rPr lang="en-ZA" dirty="0">
                <a:solidFill>
                  <a:srgbClr val="202C8F"/>
                </a:solidFill>
              </a:rPr>
              <a:t>Backend: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C# with ASP.NET Core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Entity Framework Core 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Dependency Injection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Repository Pattern</a:t>
            </a:r>
          </a:p>
          <a:p>
            <a:endParaRPr lang="en-ZA" dirty="0">
              <a:solidFill>
                <a:srgbClr val="202C8F"/>
              </a:solidFill>
            </a:endParaRPr>
          </a:p>
          <a:p>
            <a:r>
              <a:rPr lang="en-ZA" dirty="0">
                <a:solidFill>
                  <a:srgbClr val="202C8F"/>
                </a:solidFill>
              </a:rPr>
              <a:t>Security:</a:t>
            </a:r>
          </a:p>
          <a:p>
            <a:r>
              <a:rPr lang="en-ZA" dirty="0">
                <a:solidFill>
                  <a:srgbClr val="202C8F"/>
                </a:solidFill>
              </a:rPr>
              <a:t>- Secure Data Validation 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ASP.NET Identity</a:t>
            </a:r>
          </a:p>
          <a:p>
            <a:pPr marL="285750" indent="-285750">
              <a:buFontTx/>
              <a:buChar char="-"/>
            </a:pPr>
            <a:r>
              <a:rPr lang="en-ZA" dirty="0">
                <a:solidFill>
                  <a:srgbClr val="202C8F"/>
                </a:solidFill>
              </a:rPr>
              <a:t>Role-Based Authorization </a:t>
            </a:r>
          </a:p>
          <a:p>
            <a:r>
              <a:rPr lang="en-ZA" dirty="0">
                <a:solidFill>
                  <a:srgbClr val="202C8F"/>
                </a:solidFill>
              </a:rPr>
              <a:t> </a:t>
            </a:r>
          </a:p>
          <a:p>
            <a:pPr marL="285750" indent="-285750">
              <a:buFontTx/>
              <a:buChar char="-"/>
            </a:pPr>
            <a:endParaRPr lang="en-ZA" dirty="0">
              <a:solidFill>
                <a:srgbClr val="202C8F"/>
              </a:solidFill>
            </a:endParaRPr>
          </a:p>
        </p:txBody>
      </p:sp>
      <p:pic>
        <p:nvPicPr>
          <p:cNvPr id="8" name="Picture 7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B738D0D6-47CF-ABDB-3F51-FA661F567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589" y="2402759"/>
            <a:ext cx="4374411" cy="2336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938673"/>
          </a:xfrm>
        </p:spPr>
        <p:txBody>
          <a:bodyPr/>
          <a:lstStyle/>
          <a:p>
            <a:r>
              <a:rPr lang="en-US" dirty="0"/>
              <a:t>Lecturer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290916"/>
            <a:ext cx="5259554" cy="3751067"/>
          </a:xfrm>
        </p:spPr>
        <p:txBody>
          <a:bodyPr/>
          <a:lstStyle/>
          <a:p>
            <a:r>
              <a:rPr lang="en-US" dirty="0"/>
              <a:t>Automated Claim Submission:</a:t>
            </a:r>
          </a:p>
          <a:p>
            <a:pPr marL="342900" indent="-342900">
              <a:buFontTx/>
              <a:buChar char="-"/>
            </a:pPr>
            <a:r>
              <a:rPr lang="en-US" dirty="0" err="1"/>
              <a:t>Intuative</a:t>
            </a:r>
            <a:r>
              <a:rPr lang="en-US" dirty="0"/>
              <a:t> claim form with auto-calculation</a:t>
            </a:r>
          </a:p>
          <a:p>
            <a:pPr marL="342900" indent="-342900">
              <a:buFontTx/>
              <a:buChar char="-"/>
            </a:pPr>
            <a:r>
              <a:rPr lang="en-US" dirty="0"/>
              <a:t>-Real-time total amount computation</a:t>
            </a:r>
          </a:p>
          <a:p>
            <a:pPr marL="342900" indent="-342900">
              <a:buFontTx/>
              <a:buChar char="-"/>
            </a:pPr>
            <a:r>
              <a:rPr lang="en-US" dirty="0"/>
              <a:t>Submission history tracking</a:t>
            </a:r>
          </a:p>
          <a:p>
            <a:r>
              <a:rPr lang="en-US" dirty="0"/>
              <a:t>Validation &amp; Security</a:t>
            </a:r>
          </a:p>
          <a:p>
            <a:r>
              <a:rPr lang="en-US" dirty="0"/>
              <a:t>- User-Specific data isolation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89DFC3-4A6E-D554-715A-FEE309D3B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135" y="639096"/>
            <a:ext cx="5024285" cy="2826160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5101DE-79C4-35C9-92E4-ACFF0625C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135" y="3589388"/>
            <a:ext cx="5024286" cy="28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7107" y="195861"/>
            <a:ext cx="7965461" cy="994164"/>
          </a:xfrm>
        </p:spPr>
        <p:txBody>
          <a:bodyPr/>
          <a:lstStyle/>
          <a:p>
            <a:r>
              <a:rPr lang="en-US" dirty="0"/>
              <a:t>Coordinator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Automated verification</a:t>
            </a:r>
          </a:p>
          <a:p>
            <a:pPr>
              <a:buFontTx/>
              <a:buChar char="-"/>
            </a:pPr>
            <a:r>
              <a:rPr lang="en-US" dirty="0"/>
              <a:t>Centralized claim review portal</a:t>
            </a:r>
          </a:p>
          <a:p>
            <a:pPr>
              <a:buFontTx/>
              <a:buChar char="-"/>
            </a:pPr>
            <a:r>
              <a:rPr lang="en-US" dirty="0"/>
              <a:t>Status tracking and filtering </a:t>
            </a:r>
          </a:p>
          <a:p>
            <a:pPr>
              <a:buFontTx/>
              <a:buChar char="-"/>
            </a:pPr>
            <a:r>
              <a:rPr lang="en-US" dirty="0"/>
              <a:t>Bulk approval/rejection capabilities</a:t>
            </a:r>
          </a:p>
          <a:p>
            <a:pPr marL="0" indent="0">
              <a:buNone/>
            </a:pPr>
            <a:r>
              <a:rPr lang="en-US" dirty="0"/>
              <a:t> Workflow Management</a:t>
            </a:r>
          </a:p>
          <a:p>
            <a:pPr>
              <a:buFontTx/>
              <a:buChar char="-"/>
            </a:pPr>
            <a:r>
              <a:rPr lang="en-US" dirty="0"/>
              <a:t>Multi-level approval routing </a:t>
            </a:r>
          </a:p>
          <a:p>
            <a:pPr>
              <a:buFontTx/>
              <a:buChar char="-"/>
            </a:pPr>
            <a:r>
              <a:rPr lang="en-US" dirty="0"/>
              <a:t>Audit trail maintenance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C2D2D86-CF24-454B-DCDD-9E6D94A36B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1342" y="1629696"/>
            <a:ext cx="4572000" cy="330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342" y="76121"/>
            <a:ext cx="7043617" cy="1233643"/>
          </a:xfrm>
        </p:spPr>
        <p:txBody>
          <a:bodyPr/>
          <a:lstStyle/>
          <a:p>
            <a:r>
              <a:rPr lang="en-US" dirty="0"/>
              <a:t>Human resources Portal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769092" y="1602659"/>
            <a:ext cx="7043618" cy="4557312"/>
          </a:xfrm>
        </p:spPr>
        <p:txBody>
          <a:bodyPr/>
          <a:lstStyle/>
          <a:p>
            <a:r>
              <a:rPr lang="en-US" dirty="0"/>
              <a:t>Advanced Processing:</a:t>
            </a:r>
          </a:p>
          <a:p>
            <a:r>
              <a:rPr lang="en-US" dirty="0"/>
              <a:t>-Payment Reference Tracking </a:t>
            </a:r>
          </a:p>
          <a:p>
            <a:pPr marL="342900" indent="-342900">
              <a:buFontTx/>
              <a:buChar char="-"/>
            </a:pPr>
            <a:r>
              <a:rPr lang="en-US" dirty="0"/>
              <a:t>Comprehensive Reporting </a:t>
            </a:r>
          </a:p>
          <a:p>
            <a:pPr marL="342900" indent="-342900">
              <a:buFontTx/>
              <a:buChar char="-"/>
            </a:pPr>
            <a:r>
              <a:rPr lang="en-US" dirty="0"/>
              <a:t>Analytics dashboard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r>
              <a:rPr lang="en-US" dirty="0"/>
              <a:t>Data Management :</a:t>
            </a:r>
          </a:p>
          <a:p>
            <a:r>
              <a:rPr lang="en-US" dirty="0"/>
              <a:t>- Lecturer information management </a:t>
            </a:r>
          </a:p>
          <a:p>
            <a:pPr marL="342900" indent="-342900">
              <a:buFontTx/>
              <a:buChar char="-"/>
            </a:pPr>
            <a:r>
              <a:rPr lang="en-US" dirty="0"/>
              <a:t>Payment history records</a:t>
            </a:r>
          </a:p>
          <a:p>
            <a:pPr marL="342900" indent="-342900">
              <a:buFontTx/>
              <a:buChar char="-"/>
            </a:pPr>
            <a:r>
              <a:rPr lang="en-US" dirty="0"/>
              <a:t>Store Login credentials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7621DA-D474-69EF-4A31-38EE5A297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8451" y="1042219"/>
            <a:ext cx="5397909" cy="433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Automation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8761" y="2303028"/>
            <a:ext cx="7408349" cy="3720337"/>
          </a:xfrm>
        </p:spPr>
        <p:txBody>
          <a:bodyPr>
            <a:normAutofit/>
          </a:bodyPr>
          <a:lstStyle/>
          <a:p>
            <a:r>
              <a:rPr lang="en-US" dirty="0"/>
              <a:t>Calculation Engine:</a:t>
            </a:r>
          </a:p>
          <a:p>
            <a:pPr marL="285750" indent="-285750">
              <a:buFontTx/>
              <a:buChar char="-"/>
            </a:pPr>
            <a:r>
              <a:rPr lang="en-US" dirty="0"/>
              <a:t>Hours worked Validation </a:t>
            </a:r>
          </a:p>
          <a:p>
            <a:pPr marL="285750" indent="-285750">
              <a:buFontTx/>
              <a:buChar char="-"/>
            </a:pPr>
            <a:r>
              <a:rPr lang="en-US" dirty="0"/>
              <a:t>Automatic total amount calculation computation </a:t>
            </a:r>
          </a:p>
          <a:p>
            <a:pPr marL="285750" indent="-285750">
              <a:buFontTx/>
              <a:buChar char="-"/>
            </a:pPr>
            <a:r>
              <a:rPr lang="en-US" dirty="0"/>
              <a:t>Rate validation against policies</a:t>
            </a:r>
          </a:p>
          <a:p>
            <a:r>
              <a:rPr lang="en-US" dirty="0"/>
              <a:t>Workflow Automation</a:t>
            </a:r>
          </a:p>
          <a:p>
            <a:r>
              <a:rPr lang="en-US" dirty="0"/>
              <a:t> - Status progression automation </a:t>
            </a:r>
          </a:p>
          <a:p>
            <a:r>
              <a:rPr lang="en-US" dirty="0"/>
              <a:t> - Approval routing logic 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Data architecture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806" y="2303463"/>
            <a:ext cx="7631708" cy="4143375"/>
          </a:xfrm>
        </p:spPr>
        <p:txBody>
          <a:bodyPr/>
          <a:lstStyle/>
          <a:p>
            <a:r>
              <a:rPr lang="en-US" dirty="0"/>
              <a:t>Core Entities: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Users (Lecturers, Coordinator, </a:t>
            </a:r>
            <a:r>
              <a:rPr lang="en-US" dirty="0" err="1"/>
              <a:t>hr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/>
              <a:t>Claims with status tracking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Settlements and payments</a:t>
            </a:r>
          </a:p>
          <a:p>
            <a:pPr marL="285750" indent="-285750">
              <a:buFontTx/>
              <a:buChar char="-"/>
            </a:pPr>
            <a:r>
              <a:rPr lang="en-US" dirty="0"/>
              <a:t>Audit logs</a:t>
            </a:r>
          </a:p>
          <a:p>
            <a:pPr marL="285750" indent="-285750">
              <a:buFontTx/>
              <a:buChar char="-"/>
            </a:pPr>
            <a:r>
              <a:rPr lang="en-US" dirty="0"/>
              <a:t>Historical data preservation 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MODERN UI/UX </a:t>
            </a:r>
            <a:r>
              <a:rPr lang="en-US" dirty="0" err="1"/>
              <a:t>DESign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Dashboard feature: </a:t>
            </a:r>
          </a:p>
          <a:p>
            <a:pPr marL="342900" indent="-342900">
              <a:buFontTx/>
              <a:buChar char="-"/>
            </a:pPr>
            <a:r>
              <a:rPr lang="en-US" dirty="0"/>
              <a:t>Quick action buttons </a:t>
            </a:r>
          </a:p>
          <a:p>
            <a:pPr marL="342900" indent="-342900">
              <a:buFontTx/>
              <a:buChar char="-"/>
            </a:pPr>
            <a:r>
              <a:rPr lang="en-US" dirty="0"/>
              <a:t>Real-time statistics</a:t>
            </a:r>
          </a:p>
          <a:p>
            <a:pPr marL="342900" indent="-342900">
              <a:buFontTx/>
              <a:buChar char="-"/>
            </a:pPr>
            <a:r>
              <a:rPr lang="en-US" dirty="0"/>
              <a:t>Role-specific overviews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r>
              <a:rPr lang="en-US" dirty="0"/>
              <a:t>Navigation: </a:t>
            </a:r>
          </a:p>
          <a:p>
            <a:pPr marL="342900" indent="-342900">
              <a:buFontTx/>
              <a:buChar char="-"/>
            </a:pPr>
            <a:r>
              <a:rPr lang="en-US" dirty="0"/>
              <a:t>Status color coding</a:t>
            </a:r>
          </a:p>
          <a:p>
            <a:pPr marL="342900" indent="-342900">
              <a:buFontTx/>
              <a:buChar char="-"/>
            </a:pPr>
            <a:r>
              <a:rPr lang="en-US" dirty="0"/>
              <a:t>Intuitive menu structure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Organization benefits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7947397" cy="3704266"/>
          </a:xfrm>
        </p:spPr>
        <p:txBody>
          <a:bodyPr/>
          <a:lstStyle/>
          <a:p>
            <a:r>
              <a:rPr lang="en-US" dirty="0"/>
              <a:t>Efficiency benefits:</a:t>
            </a:r>
          </a:p>
          <a:p>
            <a:r>
              <a:rPr lang="en-US" dirty="0"/>
              <a:t> - 70% reduction in processing time </a:t>
            </a:r>
          </a:p>
          <a:p>
            <a:r>
              <a:rPr lang="en-US" dirty="0"/>
              <a:t> - Centralized data management </a:t>
            </a:r>
          </a:p>
          <a:p>
            <a:r>
              <a:rPr lang="en-US" dirty="0"/>
              <a:t> - Automatic validation reduces errors </a:t>
            </a:r>
          </a:p>
          <a:p>
            <a:r>
              <a:rPr lang="en-US" dirty="0"/>
              <a:t> Cost Savings:</a:t>
            </a:r>
          </a:p>
          <a:p>
            <a:pPr marL="285750" indent="-285750">
              <a:buFontTx/>
              <a:buChar char="-"/>
            </a:pPr>
            <a:r>
              <a:rPr lang="en-US" dirty="0"/>
              <a:t>Faster payment processing</a:t>
            </a:r>
          </a:p>
          <a:p>
            <a:pPr marL="285750" indent="-285750">
              <a:buFontTx/>
              <a:buChar char="-"/>
            </a:pPr>
            <a:r>
              <a:rPr lang="en-US" dirty="0"/>
              <a:t>Less </a:t>
            </a:r>
            <a:r>
              <a:rPr lang="en-US" dirty="0" err="1"/>
              <a:t>admintstrative</a:t>
            </a:r>
            <a:r>
              <a:rPr lang="en-US" dirty="0"/>
              <a:t> work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9" name="Picture 8" descr="A diagram of a diagram of a company&#10;&#10;AI-generated content may be incorrect.">
            <a:extLst>
              <a:ext uri="{FF2B5EF4-FFF2-40B4-BE49-F238E27FC236}">
                <a16:creationId xmlns:a16="http://schemas.microsoft.com/office/drawing/2014/main" id="{6A22FBAF-7906-0699-8513-BE52B5092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593" y="2450691"/>
            <a:ext cx="3950110" cy="395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{D008D8F8-E91B-415D-9AC5-9FE0C8C37249}tf78438558_win32</Template>
  <TotalTime>154</TotalTime>
  <Words>307</Words>
  <Application>Microsoft Office PowerPoint</Application>
  <PresentationFormat>Widescreen</PresentationFormat>
  <Paragraphs>90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Contract monthly claim system     presented by: MOlemo</vt:lpstr>
      <vt:lpstr>System overview</vt:lpstr>
      <vt:lpstr>Technical foundation</vt:lpstr>
      <vt:lpstr>Lecturer Experience</vt:lpstr>
      <vt:lpstr>Coordinator experience</vt:lpstr>
      <vt:lpstr>Human resources Portal</vt:lpstr>
      <vt:lpstr>Automation</vt:lpstr>
      <vt:lpstr>Data architecture</vt:lpstr>
      <vt:lpstr>MODERN UI/UX DESign</vt:lpstr>
      <vt:lpstr>Organization benefits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Molemo23 Baller</dc:creator>
  <cp:lastModifiedBy>Molemo23 Baller</cp:lastModifiedBy>
  <cp:revision>1</cp:revision>
  <dcterms:created xsi:type="dcterms:W3CDTF">2025-11-21T18:50:37Z</dcterms:created>
  <dcterms:modified xsi:type="dcterms:W3CDTF">2025-11-21T21:24:41Z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